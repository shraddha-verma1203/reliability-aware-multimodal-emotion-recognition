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77" r:id="rId16"/>
    <p:sldId id="269" r:id="rId17"/>
    <p:sldId id="270" r:id="rId18"/>
    <p:sldId id="271" r:id="rId19"/>
    <p:sldId id="272" r:id="rId20"/>
    <p:sldId id="273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Lato" panose="020F0502020204030203" pitchFamily="34" charset="0"/>
      <p:regular r:id="rId35"/>
      <p:bold r:id="rId36"/>
      <p:italic r:id="rId37"/>
      <p:boldItalic r:id="rId38"/>
    </p:embeddedFont>
    <p:embeddedFont>
      <p:font typeface="Lato Black" panose="020F0502020204030203" pitchFamily="34" charset="0"/>
      <p:bold r:id="rId39"/>
      <p:boldItalic r:id="rId40"/>
    </p:embeddedFont>
    <p:embeddedFont>
      <p:font typeface="Poppins" panose="000005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B96C82-36AD-4ED6-8E87-7168FCB5DAAF}">
  <a:tblStyle styleId="{46B96C82-36AD-4ED6-8E87-7168FCB5DA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3651795"/>
            <a:ext cx="108585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5287" y="1901130"/>
            <a:ext cx="11401425" cy="71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Multimodal Emotion Recognition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66750" y="2804070"/>
            <a:ext cx="108585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Research Paper Analysis, Key Takeaways, Gaps &amp; Proposed Research Direction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6750" y="395659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 Black"/>
                <a:ea typeface="Lato Black"/>
                <a:cs typeface="Lato Black"/>
                <a:sym typeface="Lato Black"/>
              </a:rPr>
              <a:t>Name: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Shraddha Verma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66750" y="4289970"/>
            <a:ext cx="10858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 Black"/>
                <a:ea typeface="Lato Black"/>
                <a:cs typeface="Lato Black"/>
                <a:sym typeface="Lato Black"/>
              </a:rPr>
              <a:t>Mentor: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Dr.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Venkatnareshbabu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kuppilli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66750" y="4623345"/>
            <a:ext cx="10858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 Black"/>
                <a:ea typeface="Lato Black"/>
                <a:cs typeface="Lato Black"/>
                <a:sym typeface="Lato Black"/>
              </a:rPr>
              <a:t>Institute: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NIT GOA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95537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2690812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The MER Concept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167062"/>
            <a:ext cx="4695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Detecting human emotions by integrating multiple data streams including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text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(natural language),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audio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(vocal tone),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facial expressions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(visual), and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conversational context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4452937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Mimics human social perception by verifying emotional states across independent sensors.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2690812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Unimodal vs. Multimodal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167062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Unimodal: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one modality (e.g., just text). Highly prone to ambiguity and environmental noise.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3881437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Multimodal: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Fuses cues to improve robustness. Resolves conflicts (e.g., identifying sarcasm where text is positive but voice is cynical).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What is Multimodal Emotion Recognition?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6012"/>
            <a:ext cx="2619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375" y="2386012"/>
            <a:ext cx="2619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2386012"/>
            <a:ext cx="2619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1125" y="2386012"/>
            <a:ext cx="2619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812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66775" y="3128962"/>
            <a:ext cx="213026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Mental Health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605212"/>
            <a:ext cx="20288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monitoring for depression, anxiety, and PTSD through subtle vocal and facial cues.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76650" y="268128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676650" y="3128962"/>
            <a:ext cx="213026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Smart Education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676650" y="3605212"/>
            <a:ext cx="2028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Adapting online content based on student frustration or engagement levels.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6525" y="268128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486525" y="3128962"/>
            <a:ext cx="213026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Driver Safety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86525" y="3605212"/>
            <a:ext cx="20288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Monitoring fatigue, distraction, or road rage to prevent accidents.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96400" y="268128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296400" y="3128962"/>
            <a:ext cx="213026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Social Robotics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296400" y="3605212"/>
            <a:ext cx="20288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Enabling robots to understand and respond to human emotions naturally.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Why MER is Important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71500" y="40243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3357562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Unimodal ER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451520" y="37861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4157662"/>
            <a:ext cx="19887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Single signals (Face or Voice)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2836515" y="3357562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Multimodal ER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3716535" y="37861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2836515" y="4157662"/>
            <a:ext cx="19887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 Fusion of AVT channels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101530" y="3357562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Context-aware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981551" y="37861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5101530" y="4157662"/>
            <a:ext cx="19887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Environmental context inclusion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366545" y="3357562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Conversational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8246566" y="37861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7366545" y="4157662"/>
            <a:ext cx="19887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Dialogue history &amp; interaction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631560" y="3357562"/>
            <a:ext cx="198879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LLM-based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10511581" y="37861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631560" y="4157662"/>
            <a:ext cx="198879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Affective reasoning (2025+)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Evolution of Emotion Recognition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7"/>
          <p:cNvGraphicFramePr/>
          <p:nvPr/>
        </p:nvGraphicFramePr>
        <p:xfrm>
          <a:off x="571500" y="2190750"/>
          <a:ext cx="11049000" cy="3476575"/>
        </p:xfrm>
        <a:graphic>
          <a:graphicData uri="http://schemas.openxmlformats.org/drawingml/2006/table">
            <a:tbl>
              <a:tblPr firstRow="1" bandRow="1">
                <a:noFill/>
                <a:tableStyleId>{46B96C82-36AD-4ED6-8E87-7168FCB5DAAF}</a:tableStyleId>
              </a:tblPr>
              <a:tblGrid>
                <a:gridCol w="635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Core Focus Area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Emotion Recognition from Unimodal to Multimodal Analysis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Evolution &amp; Fusion foundations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State-of-the-Art MER: A Comprehensive Survey and Taxonomy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Modern architectural classifications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Comprehensive Review of MER: Techniques &amp; Challenges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Future directions &amp; gaps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MER 2025: When Affective Computing Meets LLMs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LLM-driven emotion reasoning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Emotion Recognition in Conversations: A Survey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Contextual dialogue modeling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8" name="Google Shape;158;p17"/>
          <p:cNvSpPr/>
          <p:nvPr/>
        </p:nvSpPr>
        <p:spPr>
          <a:xfrm>
            <a:off x="571500" y="3328987"/>
            <a:ext cx="6354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926014" y="3328987"/>
            <a:ext cx="923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7849492" y="3328987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3910012"/>
            <a:ext cx="6354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926014" y="3910012"/>
            <a:ext cx="923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849492" y="3910012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4491037"/>
            <a:ext cx="6354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926014" y="4491037"/>
            <a:ext cx="923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7849492" y="4491037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71500" y="5072062"/>
            <a:ext cx="6354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926014" y="5072062"/>
            <a:ext cx="923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849492" y="5072062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71500" y="5653087"/>
            <a:ext cx="6354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926014" y="5653087"/>
            <a:ext cx="9234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849492" y="5653087"/>
            <a:ext cx="3771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Core Research Papers Analyzed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1287"/>
            <a:ext cx="528637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81287"/>
            <a:ext cx="5286375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866775" y="2976562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Unimodal to Multimodal (2023)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66775" y="3452812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Contribution: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Highlights the shift from isolated signal processing to integrative systems.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66775" y="4167187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Fusion is the "brain" of the system; simple concatenation often fails to capture cross-modal nuances.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629400" y="2976562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SOTA Survey &amp; Taxonomy (2026)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29400" y="3452812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Contribution: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Categorizes modern DL architectures into hierarchical taxonomies.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29400" y="4167187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Learning: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Current focus is shifting toward "biomimetic" fusion that mimics human cross-sensory attention.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Paper-wise Analysis (1 &amp; 2)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5600"/>
            <a:ext cx="528637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95600"/>
            <a:ext cx="52863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904875" y="3190875"/>
            <a:ext cx="489061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MER meets LLMs (2025)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04875" y="3667125"/>
            <a:ext cx="46577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Takeaway: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LLMs are being used for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emotion reasoning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not just classification. They explain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someone is sad based on cultural/social knowledge.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67500" y="3190875"/>
            <a:ext cx="489061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Conversational ER (2025)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667500" y="3667125"/>
            <a:ext cx="46577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Takeaway: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Emotions in dialogue are dependent on "Speaker Influence" and "Dialogue History"—context is as important as the signal itself.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Paper-wise Analysis (4 &amp; 5)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2725"/>
            <a:ext cx="35559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752725"/>
            <a:ext cx="35559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52725"/>
            <a:ext cx="3555950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66775" y="3048000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MER Dominance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66775" y="35242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Literature unanimously agrees: MER vastly outperforms unimodal ER by resolving ambiguities across modalities.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613225" y="3048000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The Fusion Heart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613225" y="3524250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success of any MER system depends 90% on how the fusion layer is designed (Early, Late, or Hybrid/Adaptive).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359675" y="3048000"/>
            <a:ext cx="31136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The Explainability Gap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359675" y="3524250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Deep Learning provides accuracy but fails to provide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interpretability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psychological reasoning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Synthesized Findings Across Papers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5737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71500" y="18573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Input: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Multi-stream raw data (Vocal, Visual, Textual).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571500" y="22860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Feature Extraction: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CNN/RNN/Transformers for modality-specific features.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300037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Alignment: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Synchronizing signals across time.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34290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Fusion: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Dynamic weighting and integration.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385762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 Prediction: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Classification into emotional categories or intensity.</a:t>
            </a:r>
            <a:endParaRPr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5737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Identified MER Pipeline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71500" y="571500"/>
            <a:ext cx="95250" cy="47625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" name="Google Shape;238;p22"/>
          <p:cNvGraphicFramePr/>
          <p:nvPr/>
        </p:nvGraphicFramePr>
        <p:xfrm>
          <a:off x="571500" y="2481262"/>
          <a:ext cx="11049000" cy="2895625"/>
        </p:xfrm>
        <a:graphic>
          <a:graphicData uri="http://schemas.openxmlformats.org/drawingml/2006/table">
            <a:tbl>
              <a:tblPr firstRow="1" bandRow="1">
                <a:noFill/>
                <a:tableStyleId>{46B96C82-36AD-4ED6-8E87-7168FCB5DAAF}</a:tableStyleId>
              </a:tblPr>
              <a:tblGrid>
                <a:gridCol w="21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Gap / Loophole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Problem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Research Opportunity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Fusion Conflict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Conflicting signals (e.g. happy face + sad voice).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Adaptive/Attention-based weighting.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Missing Modalities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Systems crash if one modality (video/audio) is noisy.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Robust fusion under data loss.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Explainability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Models are black boxes; can't explain "Why".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Explainable Adaptive Fusion.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Context/Speaker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Ignoring speaker dependency in conversations.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Dialogue history modeling.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" name="Google Shape;239;p22"/>
          <p:cNvSpPr/>
          <p:nvPr/>
        </p:nvSpPr>
        <p:spPr>
          <a:xfrm>
            <a:off x="571500" y="3619500"/>
            <a:ext cx="2160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732037" y="3619500"/>
            <a:ext cx="5112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844730" y="3619500"/>
            <a:ext cx="3775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200525"/>
            <a:ext cx="2160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732037" y="4200525"/>
            <a:ext cx="5112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844730" y="4200525"/>
            <a:ext cx="3775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571500" y="4781550"/>
            <a:ext cx="2160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732037" y="4781550"/>
            <a:ext cx="5112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7844730" y="4781550"/>
            <a:ext cx="3775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71500" y="5362575"/>
            <a:ext cx="2160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2732037" y="5362575"/>
            <a:ext cx="51126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7844730" y="5362575"/>
            <a:ext cx="3775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Identified Research Gaps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5537"/>
            <a:ext cx="5286375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95537"/>
            <a:ext cx="5286375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866775" y="2690812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The Conflict Scenario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66775" y="3167062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Text: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"I am okay" (Neutral)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66775" y="3595687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Voice: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Shaky/Sad (Negative)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66775" y="4024312"/>
            <a:ext cx="4695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Crying (Highly Negative)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66775" y="4452937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Problem: Current models often average these out, leading to incorrect neutral predictions.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629400" y="2690812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Proposed Solution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629400" y="3167062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Dynamic Modality Weighting: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Model learns to trust the 'Visual' modality more during crying, effectively ignoring the neutral text.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629400" y="4167187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Adaptive Fusion: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Smart fusion layers that prioritize higher-intensity signals.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Deep Dive: Fusion Conflict Problem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6012"/>
            <a:ext cx="5286375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86012"/>
            <a:ext cx="5286375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866775" y="2681287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The Loophole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866775" y="3157537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systems treat utterances as isolated snapshots. They ignore that a person's current emotion is a product of: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629400" y="2681287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The Opportunity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629400" y="3157537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Conversation-Aware MER: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GNNs or Transformers to model the emotional influence between multiple speakers over time.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1133475" y="41671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1247775" y="41671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Dialogue History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1133475" y="44529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247775" y="445293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Previous Speaker's influence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1133475" y="47386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1247775" y="47386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Current Speaker's baseline personality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Deep Dive: Conversation Context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5550"/>
            <a:ext cx="35433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5300" y="2495550"/>
            <a:ext cx="35433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9100" y="2495550"/>
            <a:ext cx="35814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 txBox="1"/>
          <p:nvPr/>
        </p:nvSpPr>
        <p:spPr>
          <a:xfrm>
            <a:off x="866775" y="2790825"/>
            <a:ext cx="2952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Option 1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66775" y="3219450"/>
            <a:ext cx="310038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Adaptive Context-Aware MER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866775" y="4029075"/>
            <a:ext cx="2952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Focusing on conversational history and speaker-modality relationships.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4600575" y="2790825"/>
            <a:ext cx="2952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Option 2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4600575" y="3219450"/>
            <a:ext cx="310038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Robust MER under Noise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4600575" y="3695700"/>
            <a:ext cx="2952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Designing fusion mechanisms that survive missing modalities or high sensor noise.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8353425" y="2809875"/>
            <a:ext cx="2952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Option 3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8353425" y="3238500"/>
            <a:ext cx="3100387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Explainable Adaptive Fusion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8353425" y="4048125"/>
            <a:ext cx="2952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Creating models that not only predict but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explain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which modality influenced the choice.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Possible Research Directions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19D0-E963-FE83-C877-7E73ED76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94026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Mathematical Example: Adaptive  Fusion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CBF4283-B192-9F3D-A852-D673F5632ED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N" b="1" dirty="0"/>
                  <a:t>Traditional Fusion</a:t>
                </a:r>
              </a:p>
              <a:p>
                <a:r>
                  <a:rPr lang="en-IN" dirty="0"/>
                  <a:t>Equal weighting: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𝑡𝑒𝑥𝑡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𝑎𝑢𝑑𝑖𝑜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𝑣𝑖𝑠𝑢𝑎𝑙</m:t>
                            </m:r>
                          </m:sub>
                        </m:sSub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IN" dirty="0"/>
                  <a:t>Problem:</a:t>
                </a:r>
              </a:p>
              <a:p>
                <a:r>
                  <a:rPr lang="en-IN" dirty="0"/>
                  <a:t>Assumes all modalities are equally reliable. </a:t>
                </a:r>
              </a:p>
              <a:p>
                <a:r>
                  <a:rPr lang="en-IN" dirty="0"/>
                  <a:t>Fails when one modality is noisy or misleading. </a:t>
                </a:r>
              </a:p>
              <a:p>
                <a:pPr marL="5080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CBF4283-B192-9F3D-A852-D673F5632E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508" r="-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1D7BD16B-9BE6-F4FE-53AB-86742C4E6B8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IN" b="1" dirty="0"/>
                  <a:t>Proposed Adaptive Fusion</a:t>
                </a:r>
              </a:p>
              <a:p>
                <a:r>
                  <a:rPr lang="en-IN" dirty="0"/>
                  <a:t>Assign reliability weights: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𝑡𝑒𝑥𝑡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𝑎𝑢𝑑𝑖𝑜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𝑣𝑖𝑠𝑢𝑎𝑙</m:t>
                        </m:r>
                      </m:sub>
                    </m:sSub>
                  </m:oMath>
                </a14:m>
                <a:endParaRPr lang="ar-AE" dirty="0"/>
              </a:p>
              <a:p>
                <a:r>
                  <a:rPr lang="en-IN" dirty="0"/>
                  <a:t>where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Text reliability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Audio reliability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IN" dirty="0"/>
                  <a:t>Visual reliability </a:t>
                </a:r>
              </a:p>
              <a:p>
                <a:r>
                  <a:rPr lang="en-IN" dirty="0"/>
                  <a:t>Constraint: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9" name="Text Placeholder 8">
                <a:extLst>
                  <a:ext uri="{FF2B5EF4-FFF2-40B4-BE49-F238E27FC236}">
                    <a16:creationId xmlns:a16="http://schemas.microsoft.com/office/drawing/2014/main" id="{1D7BD16B-9BE6-F4FE-53AB-86742C4E6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3"/>
                <a:stretch>
                  <a:fillRect l="-1662" t="-1348" r="-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60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3102-04D4-B16F-36E3-121EAC48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0BB16F5-2B91-34A1-711F-24C195C0C08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50800" indent="0">
                  <a:buNone/>
                </a:pPr>
                <a:endParaRPr lang="en-IN" b="1" dirty="0"/>
              </a:p>
              <a:p>
                <a:r>
                  <a:rPr lang="en-IN" dirty="0"/>
                  <a:t>Text Emotion Score = 0.2 (Neutral)</a:t>
                </a:r>
              </a:p>
              <a:p>
                <a:r>
                  <a:rPr lang="en-IN" dirty="0"/>
                  <a:t>Audio Emotion Score = 0.7 (Sad)</a:t>
                </a:r>
              </a:p>
              <a:p>
                <a:r>
                  <a:rPr lang="en-IN" dirty="0"/>
                  <a:t>Visual Emotion Score = 0.9 (Sad)</a:t>
                </a:r>
              </a:p>
              <a:p>
                <a:r>
                  <a:rPr lang="en-IN" dirty="0"/>
                  <a:t>Reliability Weights: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ar-AE" dirty="0"/>
              </a:p>
              <a:p>
                <a:r>
                  <a:rPr lang="en-IN" dirty="0"/>
                  <a:t>Then: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15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35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50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725</m:t>
                    </m:r>
                  </m:oMath>
                </a14:m>
                <a:endParaRPr lang="ar-AE" dirty="0"/>
              </a:p>
              <a:p>
                <a:r>
                  <a:rPr lang="en-IN" b="1" dirty="0"/>
                  <a:t>Result</a:t>
                </a:r>
              </a:p>
              <a:p>
                <a:r>
                  <a:rPr lang="en-IN" b="1" dirty="0"/>
                  <a:t>Final Emotion Score = 0.725 → Sadness</a:t>
                </a:r>
                <a:endParaRPr lang="en-IN" dirty="0"/>
              </a:p>
              <a:p>
                <a:r>
                  <a:rPr lang="en-IN" b="1" dirty="0"/>
                  <a:t>Interpretation</a:t>
                </a:r>
              </a:p>
              <a:p>
                <a:r>
                  <a:rPr lang="en-IN" dirty="0"/>
                  <a:t>The model trusts facial and vocal cues more than text because they are more reliable in this scenario.</a:t>
                </a:r>
              </a:p>
              <a:p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0BB16F5-2B91-34A1-711F-24C195C0C0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15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06908-A520-98F8-5F4E-427134DC4D3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eb58d6d1-b940-4c48-9d7b-f37c84de17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00199"/>
            <a:ext cx="3805084" cy="4708525"/>
          </a:xfrm>
          <a:prstGeom prst="rect">
            <a:avLst/>
          </a:prstGeom>
        </p:spPr>
      </p:pic>
      <p:pic>
        <p:nvPicPr>
          <p:cNvPr id="8" name="Picture 7" descr="7e2c9799-a811-4464-b505-9abda0d27e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2" y="1600197"/>
            <a:ext cx="4038598" cy="39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59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762000" y="571500"/>
            <a:ext cx="500062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Final Proposed Direction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571500" y="571500"/>
            <a:ext cx="95250" cy="9525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6"/>
          <p:cNvSpPr txBox="1"/>
          <p:nvPr/>
        </p:nvSpPr>
        <p:spPr>
          <a:xfrm>
            <a:off x="571500" y="1905000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"Explainable Adaptive Fusion for MER under Missing or Noisy Modalities"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571500" y="28479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Why this is strong: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885825" y="32861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952500" y="328612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Solves the core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Fusion Problem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85825" y="35718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952500" y="35718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Handles real-world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imperfect data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(missing video/audio).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885825" y="41433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952500" y="41433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Improves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trust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via explainability.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885825" y="44291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952500" y="442912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Addresses gaps found in recent 2025/2026 papers.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0025" y="1238250"/>
            <a:ext cx="8451800" cy="476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7"/>
          <p:cNvSpPr txBox="1"/>
          <p:nvPr/>
        </p:nvSpPr>
        <p:spPr>
          <a:xfrm>
            <a:off x="571500" y="6191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Adaptive Pipeline: Modality Reliability Scoring → Dynamic Weight Assignment → Explainable Output Layer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762000" y="238125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Proposed Methodology: Detailed Flow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571500" y="238125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96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5725"/>
            <a:ext cx="542925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3895725"/>
            <a:ext cx="542925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8"/>
          <p:cNvSpPr txBox="1"/>
          <p:nvPr/>
        </p:nvSpPr>
        <p:spPr>
          <a:xfrm>
            <a:off x="571500" y="2181225"/>
            <a:ext cx="260985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0500" b="1" dirty="0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90</a:t>
            </a:r>
            <a:r>
              <a:rPr lang="en-US" sz="6000" b="1" dirty="0">
                <a:solidFill>
                  <a:srgbClr val="0369A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dirty="0"/>
          </a:p>
        </p:txBody>
      </p:sp>
      <p:sp>
        <p:nvSpPr>
          <p:cNvPr id="343" name="Google Shape;343;p28"/>
          <p:cNvSpPr txBox="1"/>
          <p:nvPr/>
        </p:nvSpPr>
        <p:spPr>
          <a:xfrm>
            <a:off x="3562350" y="2490787"/>
            <a:ext cx="80581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Robustness Target: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Maintain high accuracy even when one modality is completely missing or highly corrupted by Gaussian noise.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866775" y="4191000"/>
            <a:ext cx="50806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Technical Contribution</a:t>
            </a:r>
            <a:endParaRPr dirty="0"/>
          </a:p>
        </p:txBody>
      </p:sp>
      <p:sp>
        <p:nvSpPr>
          <p:cNvPr id="345" name="Google Shape;345;p28"/>
          <p:cNvSpPr txBox="1"/>
          <p:nvPr/>
        </p:nvSpPr>
        <p:spPr>
          <a:xfrm>
            <a:off x="866775" y="46672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Dynamic Modality Importance Learning; Benchmark comparison across CNN, GRU, LSTM, and Transformers.</a:t>
            </a:r>
            <a:endParaRPr dirty="0"/>
          </a:p>
        </p:txBody>
      </p:sp>
      <p:sp>
        <p:nvSpPr>
          <p:cNvPr id="346" name="Google Shape;346;p28"/>
          <p:cNvSpPr txBox="1"/>
          <p:nvPr/>
        </p:nvSpPr>
        <p:spPr>
          <a:xfrm>
            <a:off x="6486525" y="4191000"/>
            <a:ext cx="50806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Impact Contribution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6486525" y="4667250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Real-world deployment readiness for mobile and edge devices where sensor data is often unreliable.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Expected Contributions</a:t>
            </a:r>
            <a:endParaRPr/>
          </a:p>
        </p:txBody>
      </p:sp>
      <p:sp>
        <p:nvSpPr>
          <p:cNvPr id="349" name="Google Shape;349;p2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9"/>
          <p:cNvSpPr txBox="1"/>
          <p:nvPr/>
        </p:nvSpPr>
        <p:spPr>
          <a:xfrm>
            <a:off x="952500" y="18669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MER is shifting from simple classification to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Context-Aware, Explainable, and Reasoning-based systems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952500" y="2295525"/>
            <a:ext cx="103727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My analysis of these 5 SOTA papers has identified that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Adaptive Fusion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is the key to solving real-world challenges like modality conflict and noise.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952500" y="3009900"/>
            <a:ext cx="10372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My proposed research aims to build a framework that is both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Robust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missing data and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Explainable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human users.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60" name="Google Shape;360;p2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6" name="Google Shape;366;p30"/>
          <p:cNvGraphicFramePr/>
          <p:nvPr/>
        </p:nvGraphicFramePr>
        <p:xfrm>
          <a:off x="571500" y="2190750"/>
          <a:ext cx="11049000" cy="3476575"/>
        </p:xfrm>
        <a:graphic>
          <a:graphicData uri="http://schemas.openxmlformats.org/drawingml/2006/table">
            <a:tbl>
              <a:tblPr firstRow="1" bandRow="1">
                <a:noFill/>
                <a:tableStyleId>{46B96C82-36AD-4ED6-8E87-7168FCB5DAAF}</a:tableStyleId>
              </a:tblPr>
              <a:tblGrid>
                <a:gridCol w="62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#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Paper 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Emotion Recognition from Unimodal to Multimodal Analysis: A Survey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State-of-the-Art Multimodal Emotion Recognition: A Comprehensive Survey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Comprehensive Review of MER: Techniques, Challenges, and Future Direction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MER 2025: When Affective Computing Meets Large Language Models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Emotion Recognition in Conversations: A Survey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7" name="Google Shape;367;p30"/>
          <p:cNvSpPr/>
          <p:nvPr/>
        </p:nvSpPr>
        <p:spPr>
          <a:xfrm>
            <a:off x="571500" y="3328987"/>
            <a:ext cx="621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1193155" y="3328987"/>
            <a:ext cx="93391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10532268" y="3328987"/>
            <a:ext cx="10882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571500" y="3910012"/>
            <a:ext cx="621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1193155" y="3910012"/>
            <a:ext cx="93391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10532268" y="3910012"/>
            <a:ext cx="10882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0"/>
          <p:cNvSpPr/>
          <p:nvPr/>
        </p:nvSpPr>
        <p:spPr>
          <a:xfrm>
            <a:off x="571500" y="4491037"/>
            <a:ext cx="621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1193155" y="4491037"/>
            <a:ext cx="93391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10532268" y="4491037"/>
            <a:ext cx="10882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571500" y="5072062"/>
            <a:ext cx="621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/>
          <p:nvPr/>
        </p:nvSpPr>
        <p:spPr>
          <a:xfrm>
            <a:off x="1193155" y="5072062"/>
            <a:ext cx="93391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10532268" y="5072062"/>
            <a:ext cx="10882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571500" y="5653087"/>
            <a:ext cx="6216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193155" y="5653087"/>
            <a:ext cx="93391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10532268" y="5653087"/>
            <a:ext cx="10882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C4A6E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493046" cy="1143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b="1" u="sng" dirty="0"/>
              <a:t>Real Dataset Example (MELD</a:t>
            </a:r>
            <a:r>
              <a:rPr lang="en-IN" b="1" u="sng" dirty="0"/>
              <a:t> </a:t>
            </a:r>
            <a:r>
              <a:rPr b="1" u="sng" dirty="0"/>
              <a:t>Dataset)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469989"/>
              </p:ext>
            </p:extLst>
          </p:nvPr>
        </p:nvGraphicFramePr>
        <p:xfrm>
          <a:off x="1524000" y="1986116"/>
          <a:ext cx="6705600" cy="2428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13">
                <a:tc>
                  <a:txBody>
                    <a:bodyPr/>
                    <a:lstStyle/>
                    <a:p>
                      <a:r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13"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 am fine.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13">
                <a:tc>
                  <a:txBody>
                    <a:bodyPr/>
                    <a:lstStyle/>
                    <a:p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Low pitch, slow voice, low energy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13">
                <a:tc>
                  <a:txBody>
                    <a:bodyPr/>
                    <a:lstStyle/>
                    <a:p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Sad facial expression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13">
                <a:tc>
                  <a:txBody>
                    <a:bodyPr/>
                    <a:lstStyle/>
                    <a:p>
                      <a:r>
                        <a:t>Actual Emotion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Sadness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495935" cy="1143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b="1" u="sng" dirty="0"/>
              <a:t>Algorithms Used in Proposed</a:t>
            </a:r>
            <a:r>
              <a:rPr lang="en-IN" b="1" u="sng" dirty="0"/>
              <a:t>  </a:t>
            </a:r>
            <a:r>
              <a:rPr b="1" u="sng" dirty="0"/>
              <a:t>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441672"/>
              </p:ext>
            </p:extLst>
          </p:nvPr>
        </p:nvGraphicFramePr>
        <p:xfrm>
          <a:off x="1868129" y="1877960"/>
          <a:ext cx="7757652" cy="406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324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251">
                <a:tc>
                  <a:txBody>
                    <a:bodyPr/>
                    <a:lstStyle/>
                    <a:p>
                      <a:r>
                        <a:t>Text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Understands sentence meaning and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251">
                <a:tc>
                  <a:txBody>
                    <a:bodyPr/>
                    <a:lstStyle/>
                    <a:p>
                      <a:r>
                        <a:t>Audio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Captures emotional speech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251">
                <a:tc>
                  <a:txBody>
                    <a:bodyPr/>
                    <a:lstStyle/>
                    <a:p>
                      <a:r>
                        <a:t>Video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Extracts facial expression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324">
                <a:tc>
                  <a:txBody>
                    <a:bodyPr/>
                    <a:lstStyle/>
                    <a:p>
                      <a:r>
                        <a:t>Fusion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Combines modalities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324">
                <a:tc>
                  <a:txBody>
                    <a:bodyPr/>
                    <a:lstStyle/>
                    <a:p>
                      <a:r>
                        <a:t>Reliability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Reliability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Assigns trust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b="1" u="sng" dirty="0"/>
              <a:t>Existing Method (Equal Fusion)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00425"/>
              </p:ext>
            </p:extLst>
          </p:nvPr>
        </p:nvGraphicFramePr>
        <p:xfrm>
          <a:off x="274320" y="1691148"/>
          <a:ext cx="941045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2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2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2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t>Emotion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Joy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t>Sadness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dirty="0"/>
                        <a:t>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63678" y="4882699"/>
            <a:ext cx="376256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Simple Average Fusion:</a:t>
            </a:r>
          </a:p>
          <a:p>
            <a:r>
              <a:rPr sz="1800" dirty="0"/>
              <a:t>Joy=(0.70+0.20+0.10)/3=0.33</a:t>
            </a:r>
          </a:p>
          <a:p>
            <a:r>
              <a:rPr sz="1800" dirty="0"/>
              <a:t>Sadness=(0.20+0.70+0.80)/3=0.56</a:t>
            </a:r>
          </a:p>
          <a:p>
            <a:r>
              <a:rPr sz="1800" dirty="0"/>
              <a:t>Prediction: Sadness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b="1" u="sng" dirty="0"/>
              <a:t>Proposed Reliability-Based Fusion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527291"/>
              </p:ext>
            </p:extLst>
          </p:nvPr>
        </p:nvGraphicFramePr>
        <p:xfrm>
          <a:off x="457199" y="1740310"/>
          <a:ext cx="8229600" cy="231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646">
                <a:tc>
                  <a:txBody>
                    <a:bodyPr/>
                    <a:lstStyle/>
                    <a:p>
                      <a:r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7646"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646">
                <a:tc>
                  <a:txBody>
                    <a:bodyPr/>
                    <a:lstStyle/>
                    <a:p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646">
                <a:tc>
                  <a:txBody>
                    <a:bodyPr/>
                    <a:lstStyle/>
                    <a:p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6026" y="4831571"/>
            <a:ext cx="9123010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/>
              <a:t>Weighted Joy=(0.20×0.70)+(0.40×0.20)+(0.40×0.10)=0.26</a:t>
            </a:r>
          </a:p>
          <a:p>
            <a:r>
              <a:rPr sz="1800" dirty="0"/>
              <a:t>Weighted Sadness=(0.20×0.20)+(0.40×0.70)+(0.40×0.80)=0.64</a:t>
            </a:r>
          </a:p>
          <a:p>
            <a:r>
              <a:rPr sz="1800" dirty="0"/>
              <a:t>Final Prediction: Sadness</a:t>
            </a:r>
          </a:p>
          <a:p>
            <a:endParaRPr sz="1800" dirty="0"/>
          </a:p>
          <a:p>
            <a:r>
              <a:rPr sz="1800" dirty="0"/>
              <a:t>Benefit: Reliability-aware fusion gives more trust to audio/video when text is misleading.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5238" y="1061885"/>
            <a:ext cx="9547123" cy="95372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b="1" u="sng" dirty="0"/>
              <a:t>What is MELD Dataset &amp; How I Will Use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753031"/>
            <a:ext cx="8794956" cy="384441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sz="2000" b="1" dirty="0">
                <a:solidFill>
                  <a:schemeClr val="tx1"/>
                </a:solidFill>
              </a:rPr>
              <a:t>MELD Dataset</a:t>
            </a:r>
          </a:p>
          <a:p>
            <a:endParaRPr sz="2000" b="1" dirty="0">
              <a:solidFill>
                <a:schemeClr val="tx1"/>
              </a:solidFill>
            </a:endParaRPr>
          </a:p>
          <a:p>
            <a:r>
              <a:rPr sz="2000" b="1" dirty="0">
                <a:solidFill>
                  <a:schemeClr val="tx1"/>
                </a:solidFill>
              </a:rPr>
              <a:t>• Contains Text, Audio and Video.</a:t>
            </a:r>
          </a:p>
          <a:p>
            <a:r>
              <a:rPr sz="2000" b="1" dirty="0">
                <a:solidFill>
                  <a:schemeClr val="tx1"/>
                </a:solidFill>
              </a:rPr>
              <a:t>• Provides emotion labels.</a:t>
            </a:r>
          </a:p>
          <a:p>
            <a:r>
              <a:rPr sz="2000" b="1" dirty="0">
                <a:solidFill>
                  <a:schemeClr val="tx1"/>
                </a:solidFill>
              </a:rPr>
              <a:t>• Used as training and testing dataset.</a:t>
            </a:r>
          </a:p>
          <a:p>
            <a:endParaRPr sz="2000" b="1" dirty="0">
              <a:solidFill>
                <a:schemeClr val="tx1"/>
              </a:solidFill>
            </a:endParaRPr>
          </a:p>
          <a:p>
            <a:r>
              <a:rPr sz="2000" b="1" dirty="0">
                <a:solidFill>
                  <a:schemeClr val="tx1"/>
                </a:solidFill>
              </a:rPr>
              <a:t>Flow:</a:t>
            </a:r>
            <a:endParaRPr lang="en-IN" sz="2000" b="1" dirty="0">
              <a:solidFill>
                <a:schemeClr val="tx1"/>
              </a:solidFill>
            </a:endParaRPr>
          </a:p>
          <a:p>
            <a:endParaRPr sz="2000" b="1" dirty="0">
              <a:solidFill>
                <a:schemeClr val="tx1"/>
              </a:solidFill>
            </a:endParaRPr>
          </a:p>
          <a:p>
            <a:r>
              <a:rPr sz="2000" b="1" u="sng" dirty="0">
                <a:solidFill>
                  <a:schemeClr val="tx1"/>
                </a:solidFill>
              </a:rPr>
              <a:t>MELD Input → BERT/</a:t>
            </a:r>
            <a:r>
              <a:rPr sz="2000" b="1" u="sng" dirty="0" err="1">
                <a:solidFill>
                  <a:schemeClr val="tx1"/>
                </a:solidFill>
              </a:rPr>
              <a:t>BiLSTM</a:t>
            </a:r>
            <a:r>
              <a:rPr sz="2000" b="1" u="sng" dirty="0">
                <a:solidFill>
                  <a:schemeClr val="tx1"/>
                </a:solidFill>
              </a:rPr>
              <a:t>/CNN → Fusion → Emotion Prediction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2453"/>
            <a:ext cx="9598742" cy="161248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b="1" u="sng" dirty="0"/>
              <a:t>What is BERT &amp; How I Will Use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2546555"/>
            <a:ext cx="9795387" cy="353961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r>
              <a:rPr b="1" dirty="0">
                <a:solidFill>
                  <a:schemeClr val="tx1"/>
                </a:solidFill>
              </a:rPr>
              <a:t>BERT (Bidirectional Encoder Representations from Transformers)</a:t>
            </a:r>
          </a:p>
          <a:p>
            <a:endParaRPr b="1" dirty="0">
              <a:solidFill>
                <a:schemeClr val="tx1"/>
              </a:solidFill>
            </a:endParaRPr>
          </a:p>
          <a:p>
            <a:r>
              <a:rPr b="1" dirty="0">
                <a:solidFill>
                  <a:schemeClr val="tx1"/>
                </a:solidFill>
              </a:rPr>
              <a:t>Purpose:</a:t>
            </a:r>
          </a:p>
          <a:p>
            <a:r>
              <a:rPr b="1" dirty="0">
                <a:solidFill>
                  <a:schemeClr val="tx1"/>
                </a:solidFill>
              </a:rPr>
              <a:t>Understand sentence meaning.</a:t>
            </a:r>
          </a:p>
          <a:p>
            <a:endParaRPr b="1" dirty="0">
              <a:solidFill>
                <a:schemeClr val="tx1"/>
              </a:solidFill>
            </a:endParaRPr>
          </a:p>
          <a:p>
            <a:r>
              <a:rPr b="1" dirty="0">
                <a:solidFill>
                  <a:schemeClr val="tx1"/>
                </a:solidFill>
              </a:rPr>
              <a:t>Usage:</a:t>
            </a:r>
          </a:p>
          <a:p>
            <a:r>
              <a:rPr b="1" dirty="0">
                <a:solidFill>
                  <a:schemeClr val="tx1"/>
                </a:solidFill>
              </a:rPr>
              <a:t>Text → BERT → Text Features → Fusion Layer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707923"/>
            <a:ext cx="10690123" cy="129785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b="1" u="sng" dirty="0"/>
              <a:t>What is </a:t>
            </a:r>
            <a:r>
              <a:rPr b="1" u="sng" dirty="0" err="1"/>
              <a:t>BiLSTM</a:t>
            </a:r>
            <a:r>
              <a:rPr b="1" u="sng" dirty="0"/>
              <a:t> &amp; How I Will Use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694039"/>
            <a:ext cx="9030929" cy="294476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b="1" dirty="0" err="1">
                <a:solidFill>
                  <a:schemeClr val="tx1"/>
                </a:solidFill>
              </a:rPr>
              <a:t>BiLSTM</a:t>
            </a:r>
            <a:r>
              <a:rPr b="1" dirty="0">
                <a:solidFill>
                  <a:schemeClr val="tx1"/>
                </a:solidFill>
              </a:rPr>
              <a:t> (Bidirectional Long Short-Term Memory)</a:t>
            </a:r>
          </a:p>
          <a:p>
            <a:endParaRPr b="1" dirty="0">
              <a:solidFill>
                <a:schemeClr val="tx1"/>
              </a:solidFill>
            </a:endParaRPr>
          </a:p>
          <a:p>
            <a:r>
              <a:rPr b="1" dirty="0">
                <a:solidFill>
                  <a:schemeClr val="tx1"/>
                </a:solidFill>
              </a:rPr>
              <a:t>Purpose:</a:t>
            </a:r>
          </a:p>
          <a:p>
            <a:r>
              <a:rPr b="1" dirty="0">
                <a:solidFill>
                  <a:schemeClr val="tx1"/>
                </a:solidFill>
              </a:rPr>
              <a:t>Capture emotional patterns from speech.</a:t>
            </a:r>
          </a:p>
          <a:p>
            <a:endParaRPr b="1" dirty="0">
              <a:solidFill>
                <a:schemeClr val="tx1"/>
              </a:solidFill>
            </a:endParaRPr>
          </a:p>
          <a:p>
            <a:r>
              <a:rPr b="1" dirty="0">
                <a:solidFill>
                  <a:schemeClr val="tx1"/>
                </a:solidFill>
              </a:rPr>
              <a:t>Usage:</a:t>
            </a:r>
          </a:p>
          <a:p>
            <a:r>
              <a:rPr b="1" dirty="0">
                <a:solidFill>
                  <a:schemeClr val="tx1"/>
                </a:solidFill>
              </a:rPr>
              <a:t>Audio → </a:t>
            </a:r>
            <a:r>
              <a:rPr b="1" dirty="0" err="1">
                <a:solidFill>
                  <a:schemeClr val="tx1"/>
                </a:solidFill>
              </a:rPr>
              <a:t>BiLSTM</a:t>
            </a:r>
            <a:r>
              <a:rPr b="1" dirty="0">
                <a:solidFill>
                  <a:schemeClr val="tx1"/>
                </a:solidFill>
              </a:rPr>
              <a:t> → Audio Features → Fusion Layer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101213"/>
            <a:ext cx="10080523" cy="108154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b="1" u="sng" dirty="0"/>
              <a:t>What is CNN &amp; How I Will Use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399071"/>
            <a:ext cx="8893277" cy="35789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b="1" u="sng" dirty="0">
                <a:solidFill>
                  <a:schemeClr val="tx1"/>
                </a:solidFill>
              </a:rPr>
              <a:t>CNN (Convolutional Neural Network)</a:t>
            </a:r>
          </a:p>
          <a:p>
            <a:endParaRPr b="1" u="sng" dirty="0">
              <a:solidFill>
                <a:schemeClr val="tx1"/>
              </a:solidFill>
            </a:endParaRPr>
          </a:p>
          <a:p>
            <a:r>
              <a:rPr b="1" u="sng" dirty="0">
                <a:solidFill>
                  <a:schemeClr val="tx1"/>
                </a:solidFill>
              </a:rPr>
              <a:t>Purpose:</a:t>
            </a:r>
          </a:p>
          <a:p>
            <a:r>
              <a:rPr b="1" u="sng" dirty="0">
                <a:solidFill>
                  <a:schemeClr val="tx1"/>
                </a:solidFill>
              </a:rPr>
              <a:t>Extract facial expression features.</a:t>
            </a:r>
          </a:p>
          <a:p>
            <a:endParaRPr b="1" u="sng" dirty="0">
              <a:solidFill>
                <a:schemeClr val="tx1"/>
              </a:solidFill>
            </a:endParaRPr>
          </a:p>
          <a:p>
            <a:r>
              <a:rPr b="1" u="sng" dirty="0">
                <a:solidFill>
                  <a:schemeClr val="tx1"/>
                </a:solidFill>
              </a:rPr>
              <a:t>Usage:</a:t>
            </a:r>
          </a:p>
          <a:p>
            <a:r>
              <a:rPr b="1" u="sng" dirty="0">
                <a:solidFill>
                  <a:schemeClr val="tx1"/>
                </a:solidFill>
              </a:rPr>
              <a:t>Video Frames → CNN → Visual Features → Fusion Layer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415845"/>
            <a:ext cx="10090356" cy="943897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b="1" u="sng" dirty="0"/>
              <a:t>What is Fusion &amp; How I Will Use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654710"/>
            <a:ext cx="9325898" cy="359860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b="1" u="sng" dirty="0">
                <a:solidFill>
                  <a:schemeClr val="tx1"/>
                </a:solidFill>
              </a:rPr>
              <a:t>Purpose:</a:t>
            </a:r>
          </a:p>
          <a:p>
            <a:r>
              <a:rPr b="1" u="sng" dirty="0">
                <a:solidFill>
                  <a:schemeClr val="tx1"/>
                </a:solidFill>
              </a:rPr>
              <a:t>Combine Text, Audio and Video features.</a:t>
            </a:r>
          </a:p>
          <a:p>
            <a:endParaRPr b="1" u="sng" dirty="0">
              <a:solidFill>
                <a:schemeClr val="tx1"/>
              </a:solidFill>
            </a:endParaRPr>
          </a:p>
          <a:p>
            <a:r>
              <a:rPr b="1" u="sng" dirty="0">
                <a:solidFill>
                  <a:schemeClr val="tx1"/>
                </a:solidFill>
              </a:rPr>
              <a:t>Usage:</a:t>
            </a:r>
          </a:p>
          <a:p>
            <a:r>
              <a:rPr b="1" u="sng" dirty="0">
                <a:solidFill>
                  <a:schemeClr val="tx1"/>
                </a:solidFill>
              </a:rPr>
              <a:t>Text Features + Audio Features + Visual Features → Fusion Layer → Unified Representation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30711"/>
            <a:ext cx="11995355" cy="102255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b="1" u="sng" dirty="0"/>
              <a:t>What is Reliability Scoring Module &amp; How I Will Use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7923" y="2723535"/>
            <a:ext cx="9753599" cy="347078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b="1" u="sng" dirty="0">
                <a:solidFill>
                  <a:schemeClr val="tx1"/>
                </a:solidFill>
              </a:rPr>
              <a:t>Purpose:</a:t>
            </a:r>
          </a:p>
          <a:p>
            <a:r>
              <a:rPr b="1" u="sng" dirty="0">
                <a:solidFill>
                  <a:schemeClr val="tx1"/>
                </a:solidFill>
              </a:rPr>
              <a:t>Assign trust scores to modalities.</a:t>
            </a:r>
          </a:p>
          <a:p>
            <a:endParaRPr b="1" u="sng" dirty="0">
              <a:solidFill>
                <a:schemeClr val="tx1"/>
              </a:solidFill>
            </a:endParaRPr>
          </a:p>
          <a:p>
            <a:r>
              <a:rPr b="1" u="sng" dirty="0">
                <a:solidFill>
                  <a:schemeClr val="tx1"/>
                </a:solidFill>
              </a:rPr>
              <a:t>Example:</a:t>
            </a:r>
          </a:p>
          <a:p>
            <a:r>
              <a:rPr b="1" u="sng" dirty="0">
                <a:solidFill>
                  <a:schemeClr val="tx1"/>
                </a:solidFill>
              </a:rPr>
              <a:t>Text=0.20, Audio=0.40, Video=0.40</a:t>
            </a:r>
          </a:p>
          <a:p>
            <a:endParaRPr b="1" u="sng" dirty="0">
              <a:solidFill>
                <a:schemeClr val="tx1"/>
              </a:solidFill>
            </a:endParaRPr>
          </a:p>
          <a:p>
            <a:r>
              <a:rPr b="1" u="sng" dirty="0">
                <a:solidFill>
                  <a:schemeClr val="tx1"/>
                </a:solidFill>
              </a:rPr>
              <a:t>Usage:</a:t>
            </a:r>
          </a:p>
          <a:p>
            <a:r>
              <a:rPr b="1" u="sng" dirty="0">
                <a:solidFill>
                  <a:schemeClr val="tx1"/>
                </a:solidFill>
              </a:rPr>
              <a:t>Reliability Scores → Weighted Fusion → Final Emotion Prediction</a:t>
            </a:r>
          </a:p>
          <a:p>
            <a:endParaRPr b="1" u="sng" dirty="0">
              <a:solidFill>
                <a:schemeClr val="tx1"/>
              </a:solidFill>
            </a:endParaRPr>
          </a:p>
          <a:p>
            <a:r>
              <a:rPr b="1" u="sng" dirty="0">
                <a:solidFill>
                  <a:schemeClr val="tx1"/>
                </a:solidFill>
              </a:rPr>
              <a:t>Contribution:</a:t>
            </a:r>
          </a:p>
          <a:p>
            <a:r>
              <a:rPr b="1" u="sng" dirty="0">
                <a:solidFill>
                  <a:schemeClr val="tx1"/>
                </a:solidFill>
              </a:rPr>
              <a:t>More robust under noisy or misleading modalities.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302181" cy="548322"/>
          </a:xfrm>
        </p:spPr>
        <p:txBody>
          <a:bodyPr>
            <a:noAutofit/>
          </a:bodyPr>
          <a:lstStyle/>
          <a:p>
            <a:r>
              <a:rPr sz="3200" b="1" u="sng" dirty="0"/>
              <a:t>Complete Proposed MER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914400"/>
            <a:ext cx="201168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u="sng" dirty="0">
                <a:solidFill>
                  <a:schemeClr val="tx1"/>
                </a:solidFill>
              </a:rPr>
              <a:t>MELD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65941" y="1645920"/>
            <a:ext cx="1409938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u="sng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59017" y="1675171"/>
            <a:ext cx="1513183" cy="5169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 u="sng" dirty="0">
                <a:solidFill>
                  <a:schemeClr val="tx1"/>
                </a:solidFill>
              </a:rPr>
              <a:t>Audio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987667" y="1721628"/>
            <a:ext cx="1371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u="sng" dirty="0">
                <a:solidFill>
                  <a:schemeClr val="tx1"/>
                </a:solidFill>
              </a:rPr>
              <a:t>Video</a:t>
            </a:r>
          </a:p>
        </p:txBody>
      </p:sp>
      <p:sp>
        <p:nvSpPr>
          <p:cNvPr id="7" name="Rectangle 6"/>
          <p:cNvSpPr/>
          <p:nvPr/>
        </p:nvSpPr>
        <p:spPr>
          <a:xfrm>
            <a:off x="765941" y="2606040"/>
            <a:ext cx="1409938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u="sng" dirty="0">
                <a:solidFill>
                  <a:schemeClr val="tx1"/>
                </a:solidFill>
              </a:rPr>
              <a:t>BERT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606040"/>
            <a:ext cx="1371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1" u="sng" dirty="0" err="1">
                <a:solidFill>
                  <a:schemeClr val="tx1"/>
                </a:solidFill>
              </a:rPr>
              <a:t>BiLSTM</a:t>
            </a:r>
            <a:endParaRPr sz="2400" b="1" u="sng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87667" y="2651760"/>
            <a:ext cx="13716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 u="sng" dirty="0">
                <a:solidFill>
                  <a:schemeClr val="tx1"/>
                </a:solidFill>
              </a:rPr>
              <a:t>CNN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5679" y="3717577"/>
            <a:ext cx="18288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u="sng" dirty="0">
                <a:solidFill>
                  <a:schemeClr val="tx1"/>
                </a:solidFill>
              </a:rPr>
              <a:t>Text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3458251"/>
            <a:ext cx="192024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u="sng" dirty="0">
                <a:solidFill>
                  <a:schemeClr val="tx1"/>
                </a:solidFill>
              </a:rPr>
              <a:t>Audio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59067" y="3657601"/>
            <a:ext cx="182880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u="sng" dirty="0">
                <a:solidFill>
                  <a:schemeClr val="tx1"/>
                </a:solidFill>
              </a:rPr>
              <a:t>Visual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544715"/>
            <a:ext cx="210312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u="sng" dirty="0">
                <a:solidFill>
                  <a:schemeClr val="tx1"/>
                </a:solidFill>
              </a:rPr>
              <a:t>Fusion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9716" y="5488858"/>
            <a:ext cx="2625213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u="sng" dirty="0">
                <a:solidFill>
                  <a:schemeClr val="tx1"/>
                </a:solidFill>
              </a:rPr>
              <a:t>Reliability Scoring Module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5276" y="6311818"/>
            <a:ext cx="3412776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u="sng" dirty="0">
                <a:solidFill>
                  <a:schemeClr val="tx1"/>
                </a:solidFill>
              </a:rPr>
              <a:t>Adaptive Weighted Fusion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1787" y="6311818"/>
            <a:ext cx="2194560" cy="548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u="sng" dirty="0">
                <a:solidFill>
                  <a:schemeClr val="tx1"/>
                </a:solidFill>
              </a:rPr>
              <a:t>Emotion Classifier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59267" y="6035041"/>
            <a:ext cx="1828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u="sng" dirty="0">
                <a:solidFill>
                  <a:schemeClr val="tx1"/>
                </a:solidFill>
              </a:rPr>
              <a:t>Happy / Sad / Angry</a:t>
            </a:r>
          </a:p>
          <a:p>
            <a:pPr algn="ctr"/>
            <a:r>
              <a:rPr b="1" u="sng" dirty="0">
                <a:solidFill>
                  <a:schemeClr val="tx1"/>
                </a:solidFill>
              </a:rPr>
              <a:t>Neutral / Excited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1497508-8F20-F1C5-F244-7291B831ECBA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5394960" y="1371600"/>
            <a:ext cx="20649" cy="30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7226AF-8051-91B3-7713-07763F501DFA}"/>
              </a:ext>
            </a:extLst>
          </p:cNvPr>
          <p:cNvCxnSpPr>
            <a:stCxn id="3" idx="3"/>
          </p:cNvCxnSpPr>
          <p:nvPr/>
        </p:nvCxnSpPr>
        <p:spPr>
          <a:xfrm flipV="1">
            <a:off x="6400800" y="1140542"/>
            <a:ext cx="3234813" cy="24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157B6D-ED08-74AA-F1FD-8C5E0A6DF74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9655277" y="1120877"/>
            <a:ext cx="18190" cy="600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071420-0ED3-5C1D-86F5-6AE26BC2ACA0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9673467" y="2270268"/>
            <a:ext cx="0" cy="381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BB3B59-2987-E4D8-A340-42FD58B1EA09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9673467" y="3200400"/>
            <a:ext cx="0" cy="4572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7CE8F21-3692-E42B-B22E-07F3900CC94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415609" y="2192102"/>
            <a:ext cx="25071" cy="413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0565AD6-29AA-DD5A-09A9-727A6031B457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5440680" y="3154680"/>
            <a:ext cx="0" cy="303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441CF49-7CAB-E356-ECF0-2BEBC0B62474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5440680" y="4006891"/>
            <a:ext cx="0" cy="537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7B8F6DE-EFC3-26C0-785E-FDD346064BDA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5432323" y="5093355"/>
            <a:ext cx="8357" cy="395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5A34474-6AD1-A6D4-0D20-892D8295090C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432323" y="6037498"/>
            <a:ext cx="9341" cy="2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4754D2A-508E-3D94-F2AA-430297502A2C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1474839" y="1140542"/>
            <a:ext cx="2914281" cy="24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5BC0145-BFE3-BF57-1AA8-637FFC335D2F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445342" y="1140542"/>
            <a:ext cx="25568" cy="50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1BC23FF-4CA2-616F-05B9-87F2731DEBE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470910" y="2194560"/>
            <a:ext cx="0" cy="41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48C48E7-7D9C-0A1B-59CF-D3D0C2C454F2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1470910" y="3154680"/>
            <a:ext cx="19169" cy="562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8A4647B-0104-AF59-E2CD-3E7EA22DC7D5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2404479" y="3991897"/>
            <a:ext cx="1984641" cy="827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2FCC19-B569-E2B2-448D-5A9590CF4818}"/>
              </a:ext>
            </a:extLst>
          </p:cNvPr>
          <p:cNvCxnSpPr>
            <a:stCxn id="12" idx="1"/>
            <a:endCxn id="13" idx="3"/>
          </p:cNvCxnSpPr>
          <p:nvPr/>
        </p:nvCxnSpPr>
        <p:spPr>
          <a:xfrm flipH="1">
            <a:off x="6492240" y="3931921"/>
            <a:ext cx="2266827" cy="887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AB562DD-2384-3150-914A-533FC9175DEE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7148052" y="6586138"/>
            <a:ext cx="5137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6F517EE-CA5D-4004-E716-B781DDECAC77}"/>
              </a:ext>
            </a:extLst>
          </p:cNvPr>
          <p:cNvCxnSpPr>
            <a:stCxn id="16" idx="3"/>
          </p:cNvCxnSpPr>
          <p:nvPr/>
        </p:nvCxnSpPr>
        <p:spPr>
          <a:xfrm>
            <a:off x="9856347" y="6586138"/>
            <a:ext cx="502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1697</Words>
  <Application>Microsoft Office PowerPoint</Application>
  <PresentationFormat>Widescreen</PresentationFormat>
  <Paragraphs>331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Cambria Math</vt:lpstr>
      <vt:lpstr>Poppins</vt:lpstr>
      <vt:lpstr>Lato</vt:lpstr>
      <vt:lpstr>Calibri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Example: Adaptive  Fusion </vt:lpstr>
      <vt:lpstr>Example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Real Dataset Example (MELD Dataset)</vt:lpstr>
      <vt:lpstr>Algorithms Used in Proposed  Pipeline</vt:lpstr>
      <vt:lpstr>Existing Method (Equal Fusion)</vt:lpstr>
      <vt:lpstr>Proposed Reliability-Based Fusion</vt:lpstr>
      <vt:lpstr>What is MELD Dataset &amp; How I Will Use It</vt:lpstr>
      <vt:lpstr>What is BERT &amp; How I Will Use It</vt:lpstr>
      <vt:lpstr>What is BiLSTM &amp; How I Will Use It</vt:lpstr>
      <vt:lpstr>What is CNN &amp; How I Will Use It</vt:lpstr>
      <vt:lpstr>What is Fusion &amp; How I Will Use It</vt:lpstr>
      <vt:lpstr>What is Reliability Scoring Module &amp; How I Will Use It</vt:lpstr>
      <vt:lpstr>Complete Proposed MER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Shraddha Verma</dc:creator>
  <cp:lastModifiedBy>shrddhaverma52@outlook.com</cp:lastModifiedBy>
  <cp:revision>12</cp:revision>
  <dcterms:modified xsi:type="dcterms:W3CDTF">2026-06-24T10:24:03Z</dcterms:modified>
</cp:coreProperties>
</file>